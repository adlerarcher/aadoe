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15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08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79243"/>
            <a:ext cx="4581298" cy="2984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600" dirty="0">
                <a:solidFill>
                  <a:srgbClr val="F5B819"/>
                </a:solidFill>
                <a:latin typeface="Bookman Old Style" panose="02050604050505020204" pitchFamily="18" charset="0"/>
                <a:ea typeface="Cambria" pitchFamily="34" charset="-122"/>
                <a:cs typeface="Cambria" pitchFamily="34" charset="-120"/>
              </a:rPr>
              <a:t>Office of Geothermal Strategy Management</a:t>
            </a:r>
            <a:endParaRPr lang="en-US" sz="4600" dirty="0">
              <a:latin typeface="Bookman Old Style" panose="0205060405050502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6928" y="4721557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CSUP Re-design</a:t>
            </a:r>
            <a:endParaRPr lang="en-US" sz="2100" dirty="0"/>
          </a:p>
        </p:txBody>
      </p:sp>
      <p:pic>
        <p:nvPicPr>
          <p:cNvPr id="5" name="Image 1" descr="doe_seal_ligh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6172200"/>
            <a:ext cx="310896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Scale-Up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technical outputs to deployment pathways under one program manager.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27448" y="1554480"/>
            <a:ext cx="2743200" cy="676656"/>
          </a:xfrm>
          <a:prstGeom prst="roundRect">
            <a:avLst>
              <a:gd name="adj" fmla="val 8108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18888" y="1554480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Porse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Manager,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Scale-Up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71494" y="2606040"/>
            <a:ext cx="0" cy="0"/>
          </a:xfrm>
          <a:prstGeom prst="line">
            <a:avLst/>
          </a:prstGeom>
          <a:noFill/>
          <a:ln w="19050">
            <a:solidFill>
              <a:srgbClr val="4B547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5634" y="246888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DEE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7074" y="24688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Adler Archer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Advisor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Strategy &amp; Innovation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71494" y="3200400"/>
            <a:ext cx="0" cy="219456"/>
          </a:xfrm>
          <a:prstGeom prst="line">
            <a:avLst/>
          </a:prstGeom>
          <a:noFill/>
          <a:ln w="19050">
            <a:solidFill>
              <a:srgbClr val="9AA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5634" y="3419856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7074" y="3419856"/>
            <a:ext cx="2148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Relations (DOE Scholar)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9048" y="2231136"/>
            <a:ext cx="0" cy="2139696"/>
          </a:xfrm>
          <a:prstGeom prst="line">
            <a:avLst/>
          </a:prstGeom>
          <a:noFill/>
          <a:ln w="19050">
            <a:solidFill>
              <a:srgbClr val="4B5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200" name="Conn200"/>
          <p:cNvCxnSpPr/>
          <p:nvPr/>
        </p:nvCxnSpPr>
        <p:spPr>
          <a:xfrm>
            <a:off x="2395866" y="4370832"/>
            <a:ext cx="7400266" cy="0"/>
          </a:xfrm>
          <a:prstGeom prst="line">
            <a:avLst/>
          </a:prstGeom>
          <a:ln w="12700">
            <a:solidFill>
              <a:srgbClr val="4B54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201" name="Conn201"/>
          <p:cNvCxnSpPr/>
          <p:nvPr/>
        </p:nvCxnSpPr>
        <p:spPr>
          <a:xfrm>
            <a:off x="2395866" y="4370832"/>
            <a:ext cx="0" cy="201168"/>
          </a:xfrm>
          <a:prstGeom prst="line">
            <a:avLst/>
          </a:prstGeom>
          <a:ln w="12700">
            <a:solidFill>
              <a:srgbClr val="4B54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202" name="Conn202"/>
          <p:cNvCxnSpPr/>
          <p:nvPr/>
        </p:nvCxnSpPr>
        <p:spPr>
          <a:xfrm>
            <a:off x="6095999" y="4370832"/>
            <a:ext cx="0" cy="201168"/>
          </a:xfrm>
          <a:prstGeom prst="line">
            <a:avLst/>
          </a:prstGeom>
          <a:ln w="12700">
            <a:solidFill>
              <a:srgbClr val="4B54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203" name="Conn203"/>
          <p:cNvCxnSpPr/>
          <p:nvPr/>
        </p:nvCxnSpPr>
        <p:spPr>
          <a:xfrm>
            <a:off x="9796132" y="4370832"/>
            <a:ext cx="0" cy="201168"/>
          </a:xfrm>
          <a:prstGeom prst="line">
            <a:avLst/>
          </a:prstGeom>
          <a:ln w="12700">
            <a:solidFill>
              <a:srgbClr val="4B54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204" name="Hdr204"/>
          <p:cNvSpPr/>
          <p:nvPr/>
        </p:nvSpPr>
        <p:spPr>
          <a:xfrm>
            <a:off x="685800" y="4572000"/>
            <a:ext cx="3420133" cy="548640"/>
          </a:xfrm>
          <a:prstGeom prst="roundRect">
            <a:avLst>
              <a:gd name="adj" fmla="val 8333"/>
            </a:avLst>
          </a:prstGeom>
          <a:solidFill>
            <a:srgbClr val="0200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Performance</a:t>
            </a:r>
            <a:endParaRPr lang="en-US" sz="1400" dirty="0"/>
          </a:p>
        </p:txBody>
      </p:sp>
      <p:sp>
        <p:nvSpPr>
          <p:cNvPr id="205" name="Hdr205"/>
          <p:cNvSpPr/>
          <p:nvPr/>
        </p:nvSpPr>
        <p:spPr>
          <a:xfrm>
            <a:off x="4385933" y="4572000"/>
            <a:ext cx="3420133" cy="548640"/>
          </a:xfrm>
          <a:prstGeom prst="roundRect">
            <a:avLst>
              <a:gd name="adj" fmla="val 8333"/>
            </a:avLst>
          </a:prstGeom>
          <a:solidFill>
            <a:srgbClr val="0200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Innovation &amp; Analytics</a:t>
            </a:r>
            <a:endParaRPr lang="en-US" sz="1400" dirty="0"/>
          </a:p>
        </p:txBody>
      </p:sp>
      <p:sp>
        <p:nvSpPr>
          <p:cNvPr id="206" name="Hdr206"/>
          <p:cNvSpPr/>
          <p:nvPr/>
        </p:nvSpPr>
        <p:spPr>
          <a:xfrm>
            <a:off x="8086066" y="4572000"/>
            <a:ext cx="3420133" cy="548640"/>
          </a:xfrm>
          <a:prstGeom prst="roundRect">
            <a:avLst>
              <a:gd name="adj" fmla="val 8333"/>
            </a:avLst>
          </a:prstGeom>
          <a:solidFill>
            <a:srgbClr val="0200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</a:t>
            </a:r>
            <a:endParaRPr lang="en-US" sz="1400" dirty="0"/>
          </a:p>
        </p:txBody>
      </p:sp>
      <p:sp>
        <p:nvSpPr>
          <p:cNvPr id="207" name="Card207"/>
          <p:cNvSpPr/>
          <p:nvPr/>
        </p:nvSpPr>
        <p:spPr>
          <a:xfrm>
            <a:off x="1095866" y="5138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Performance Manager</a:t>
            </a:r>
          </a:p>
        </p:txBody>
      </p:sp>
      <p:sp>
        <p:nvSpPr>
          <p:cNvPr id="208" name="Card208"/>
          <p:cNvSpPr/>
          <p:nvPr/>
        </p:nvSpPr>
        <p:spPr>
          <a:xfrm>
            <a:off x="1095866" y="5563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 (ORISE)</a:t>
            </a:r>
          </a:p>
        </p:txBody>
      </p:sp>
      <p:sp>
        <p:nvSpPr>
          <p:cNvPr id="209" name="Card209"/>
          <p:cNvSpPr/>
          <p:nvPr/>
        </p:nvSpPr>
        <p:spPr>
          <a:xfrm>
            <a:off x="1095866" y="5988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Steeves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Dev (ORISE)</a:t>
            </a:r>
          </a:p>
        </p:txBody>
      </p:sp>
      <p:sp>
        <p:nvSpPr>
          <p:cNvPr id="210" name="Card210"/>
          <p:cNvSpPr/>
          <p:nvPr/>
        </p:nvSpPr>
        <p:spPr>
          <a:xfrm>
            <a:off x="4795999" y="5138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Adams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Innovation Manager</a:t>
            </a:r>
          </a:p>
        </p:txBody>
      </p:sp>
      <p:sp>
        <p:nvSpPr>
          <p:cNvPr id="211" name="Card211"/>
          <p:cNvSpPr/>
          <p:nvPr/>
        </p:nvSpPr>
        <p:spPr>
          <a:xfrm>
            <a:off x="4795999" y="5563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Hagstrom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Manager</a:t>
            </a:r>
          </a:p>
        </p:txBody>
      </p:sp>
      <p:sp>
        <p:nvSpPr>
          <p:cNvPr id="212" name="Card212"/>
          <p:cNvSpPr/>
          <p:nvPr/>
        </p:nvSpPr>
        <p:spPr>
          <a:xfrm>
            <a:off x="4795999" y="5988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(ORISE)</a:t>
            </a:r>
          </a:p>
        </p:txBody>
      </p:sp>
      <p:sp>
        <p:nvSpPr>
          <p:cNvPr id="213" name="Card213"/>
          <p:cNvSpPr/>
          <p:nvPr/>
        </p:nvSpPr>
        <p:spPr>
          <a:xfrm>
            <a:off x="8496132" y="5138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Winick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Manager</a:t>
            </a:r>
          </a:p>
        </p:txBody>
      </p:sp>
      <p:sp>
        <p:nvSpPr>
          <p:cNvPr id="214" name="Card214"/>
          <p:cNvSpPr/>
          <p:nvPr/>
        </p:nvSpPr>
        <p:spPr>
          <a:xfrm>
            <a:off x="8496132" y="5563928"/>
            <a:ext cx="2600000" cy="3800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/>
        </p:spPr>
        <p:txBody>
          <a:bodyPr wrap="square" tIns="18000" bIns="1800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Livermore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Strategy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evidence and staff input become strategy working groups, initiatives, and the systems that make strategy repeatable.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0" y="457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b="1" kern="0" spc="150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</a:t>
            </a:r>
            <a:endParaRPr lang="en-US" sz="10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→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22576" y="2468880"/>
            <a:ext cx="74981" cy="0"/>
          </a:xfrm>
          <a:prstGeom prst="line">
            <a:avLst/>
          </a:prstGeom>
          <a:noFill/>
          <a:ln w="25400">
            <a:solidFill>
              <a:srgbClr val="F5B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755648" cy="3200400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139696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sp_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121" y="2284537"/>
            <a:ext cx="368686" cy="36868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47088" y="2093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47088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89864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Notebook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" y="3483864"/>
            <a:ext cx="14996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shared files, data, and inputs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4178808"/>
            <a:ext cx="1444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plans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dashboards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notes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89781" y="2468880"/>
            <a:ext cx="74981" cy="0"/>
          </a:xfrm>
          <a:prstGeom prst="line">
            <a:avLst/>
          </a:prstGeom>
          <a:noFill/>
          <a:ln w="25400">
            <a:solidFill>
              <a:srgbClr val="F5B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15845" y="1965960"/>
            <a:ext cx="1755648" cy="3200400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64485" y="2139696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sp_int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326" y="2284537"/>
            <a:ext cx="368686" cy="36868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14293" y="2093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714293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25573" y="289864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Interviews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543861" y="3483864"/>
            <a:ext cx="14996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past planning and improvements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598725" y="4178808"/>
            <a:ext cx="1444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gaps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needs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056986" y="2468880"/>
            <a:ext cx="74981" cy="0"/>
          </a:xfrm>
          <a:prstGeom prst="line">
            <a:avLst/>
          </a:prstGeom>
          <a:noFill/>
          <a:ln w="25400">
            <a:solidFill>
              <a:srgbClr val="F5B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283050" y="1965960"/>
            <a:ext cx="1755648" cy="3200400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31690" y="2139696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sp_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531" y="2284537"/>
            <a:ext cx="368686" cy="368686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581498" y="2093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581498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392778" y="289864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Planning Sessions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411066" y="3483864"/>
            <a:ext cx="14996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current efforts and feedback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465930" y="4178808"/>
            <a:ext cx="1444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underway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mgmt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needs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7924190" y="2468880"/>
            <a:ext cx="74981" cy="0"/>
          </a:xfrm>
          <a:prstGeom prst="line">
            <a:avLst/>
          </a:prstGeom>
          <a:noFill/>
          <a:ln w="25400">
            <a:solidFill>
              <a:srgbClr val="F5B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150254" y="1965960"/>
            <a:ext cx="1755648" cy="3200400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698894" y="2139696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sp_o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735" y="2284537"/>
            <a:ext cx="368686" cy="368686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448702" y="2093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7448702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259982" y="289864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Effectiveness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278270" y="3483864"/>
            <a:ext cx="14996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operations with Director &amp; MPAs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333134" y="4178808"/>
            <a:ext cx="1444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health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gaps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9791395" y="2468880"/>
            <a:ext cx="74981" cy="0"/>
          </a:xfrm>
          <a:prstGeom prst="line">
            <a:avLst/>
          </a:prstGeom>
          <a:noFill/>
          <a:ln w="25400">
            <a:solidFill>
              <a:srgbClr val="F5B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8017459" y="1965960"/>
            <a:ext cx="1755648" cy="3200400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8566099" y="2139696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sp_syn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940" y="2284537"/>
            <a:ext cx="368686" cy="368686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9315907" y="2093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9315907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8127187" y="289864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Retreat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8145475" y="3483864"/>
            <a:ext cx="14996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insights into a draft plan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8200339" y="4178808"/>
            <a:ext cx="1444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retreat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plan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cycle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9884664" y="1965960"/>
            <a:ext cx="1755648" cy="3200400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10433304" y="2139696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5" descr="sp_syste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8145" y="2284537"/>
            <a:ext cx="368686" cy="368686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11183112" y="2093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/>
          <p:nvPr/>
        </p:nvSpPr>
        <p:spPr>
          <a:xfrm>
            <a:off x="11183112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9994392" y="289864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Implementation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10012680" y="3483864"/>
            <a:ext cx="14996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strategy repeatable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10067544" y="4178808"/>
            <a:ext cx="1444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900" dirty="0"/>
          </a:p>
          <a:p>
            <a:pPr marL="101600" indent="-101600" algn="l">
              <a:lnSpc>
                <a:spcPct val="9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502920" y="5742432"/>
            <a:ext cx="82296" cy="475488"/>
          </a:xfrm>
          <a:prstGeom prst="rect">
            <a:avLst/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1"/>
          <p:cNvSpPr/>
          <p:nvPr/>
        </p:nvSpPr>
        <p:spPr>
          <a:xfrm>
            <a:off x="585216" y="5742432"/>
            <a:ext cx="11100816" cy="475488"/>
          </a:xfrm>
          <a:prstGeom prst="roundRect">
            <a:avLst>
              <a:gd name="adj" fmla="val 576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822960" y="5742432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200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 starts with evidence, staff input, and office-wide synthesis.</a:t>
            </a:r>
            <a:endParaRPr lang="en-US" sz="1200" dirty="0"/>
          </a:p>
        </p:txBody>
      </p:sp>
      <p:pic>
        <p:nvPicPr>
          <p:cNvPr id="61" name="Image 6" descr="footer_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pic>
        <p:nvPicPr>
          <p:cNvPr id="62" name="Image 7" descr="doe_seal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02920" y="6510528"/>
            <a:ext cx="2377440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Operating Model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coordination, initiative delivery, and execution tracking each have a home, without a shadow reporting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84448" cy="3611880"/>
          </a:xfrm>
          <a:prstGeom prst="roundRect">
            <a:avLst>
              <a:gd name="adj" fmla="val 17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84448" cy="841248"/>
          </a:xfrm>
          <a:prstGeom prst="roundRect">
            <a:avLst>
              <a:gd name="adj" fmla="val 7609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" y="19476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om_sw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2" y="206032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2578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Working Groups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" y="2807208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forums aligned to strategic themes and goals.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" y="3657600"/>
            <a:ext cx="303580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across functions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decisions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dependencies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cross-office visibility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02252" y="1783080"/>
            <a:ext cx="3584448" cy="3611880"/>
          </a:xfrm>
          <a:prstGeom prst="roundRect">
            <a:avLst>
              <a:gd name="adj" fmla="val 17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02252" y="1783080"/>
            <a:ext cx="3584448" cy="841248"/>
          </a:xfrm>
          <a:prstGeom prst="roundRect">
            <a:avLst>
              <a:gd name="adj" fmla="val 7609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4860" y="19476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om_in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514" y="2060326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6652" y="1783080"/>
            <a:ext cx="2578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58284" y="2807208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Lead-owned bodies of work with a defined scope and deliverables.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94860" y="3657600"/>
            <a:ext cx="303580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primary / supporting SWGs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milestones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dependencies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outputs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1783080"/>
            <a:ext cx="3584448" cy="3611880"/>
          </a:xfrm>
          <a:prstGeom prst="roundRect">
            <a:avLst>
              <a:gd name="adj" fmla="val 17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01584" y="1783080"/>
            <a:ext cx="3584448" cy="841248"/>
          </a:xfrm>
          <a:prstGeom prst="roundRect">
            <a:avLst>
              <a:gd name="adj" fmla="val 7609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394192" y="19476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om_tr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846" y="2060326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15984" y="1783080"/>
            <a:ext cx="2578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Register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57616" y="2807208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management tool for leadership and initiative leads.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394192" y="3657600"/>
            <a:ext cx="303580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risks, dependencies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next milestones</a:t>
            </a:r>
            <a:endParaRPr lang="en-US" sz="1150" dirty="0"/>
          </a:p>
          <a:p>
            <a:pPr marL="127000" indent="-127000" algn="l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 home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2920" y="5742432"/>
            <a:ext cx="82296" cy="475488"/>
          </a:xfrm>
          <a:prstGeom prst="rect">
            <a:avLst/>
          </a:prstGeom>
          <a:solidFill>
            <a:srgbClr val="F5B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85216" y="5742432"/>
            <a:ext cx="11100816" cy="475488"/>
          </a:xfrm>
          <a:prstGeom prst="roundRect">
            <a:avLst>
              <a:gd name="adj" fmla="val 576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22960" y="5742432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200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coordination and delivery ownership are separate by design.</a:t>
            </a:r>
            <a:endParaRPr lang="en-US" sz="1200" dirty="0"/>
          </a:p>
        </p:txBody>
      </p:sp>
      <p:pic>
        <p:nvPicPr>
          <p:cNvPr id="28" name="Image 3" descr="footer_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pic>
        <p:nvPicPr>
          <p:cNvPr id="29" name="Image 4" descr="doe_seal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2920" y="6510528"/>
            <a:ext cx="2377440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SWGs and Strategic Initiatives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the office organizes work: standing groups for recurring alignment, initiatives for bounded delivery.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0136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50" dirty="0">
                <a:solidFill>
                  <a:srgbClr val="F5B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Working Groups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0" y="180136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alignment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660904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7512" y="272491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wg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2797332"/>
            <a:ext cx="184343" cy="184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6609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Management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Co-chairs  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Porse, Adler Archer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168396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7512" y="32324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wg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304824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06424" y="31683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Acceleration</a:t>
            </a:r>
            <a:endParaRPr lang="en-US" sz="1050" dirty="0"/>
          </a:p>
          <a:p>
            <a:pPr>
              <a:lnSpc>
                <a:spcPct val="95000"/>
              </a:lnSpc>
            </a:pPr>
            <a:r>
              <a:rPr lang="en-US" sz="800" b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Co-chairs  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Vandermeer, Michael Weathers 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675888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7512" y="373989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wg_st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3812316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36758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Co-chairs  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 Metcalfe, Lindsey Baker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4183380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7512" y="42473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wg_int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32" y="4319808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41833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Co-chairs  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Adler Archer, Timothy Steeves,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" y="4690872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67512" y="47548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wg_workfor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32" y="4827300"/>
            <a:ext cx="184343" cy="18434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06424" y="46908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Development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Co-chairs  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 Metcalfe, Zachary Quirk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02920" y="5198364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667512" y="52623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wg_digit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32" y="5334792"/>
            <a:ext cx="184343" cy="18434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06424" y="51983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Co-chairs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Andrew Adams, Payam </a:t>
            </a:r>
            <a:r>
              <a:rPr lang="en-US" sz="850" dirty="0" err="1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Delgoshaei</a:t>
            </a:r>
            <a:r>
              <a:rPr lang="en-US" sz="85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53912" y="1691640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6428232" y="180136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50" dirty="0">
                <a:solidFill>
                  <a:srgbClr val="F5B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0222992" y="180136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lead-owned delivery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153912" y="2660904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6336792" y="27889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in_extrem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5306" y="2877434"/>
            <a:ext cx="225308" cy="2253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67144" y="27157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Energy in Extreme Environments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high-temperature tools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222992" y="2660904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00" b="1" kern="0" spc="1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Cheah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6153912" y="3396996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6336792" y="352501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in_dat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5306" y="3613526"/>
            <a:ext cx="225308" cy="2253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67144" y="34518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Data Nexus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products, GDR integration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10222992" y="3396996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00" b="1" kern="0" spc="1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Adams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6153912" y="4133088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6336792" y="42611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8" descr="in_perm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5306" y="4349618"/>
            <a:ext cx="225308" cy="2253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67144" y="418795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Permitting Workflow Environment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coordination, timelines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10222992" y="413308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00" b="1" kern="0" spc="1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Adler Archer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6153912" y="4869180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9"/>
          <p:cNvSpPr/>
          <p:nvPr/>
        </p:nvSpPr>
        <p:spPr>
          <a:xfrm>
            <a:off x="6336792" y="499719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200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9" descr="in_regis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5306" y="5085710"/>
            <a:ext cx="225308" cy="22530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867144" y="492404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Register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deliverables, handoff</a:t>
            </a:r>
            <a:endParaRPr lang="en-US" sz="1150" dirty="0"/>
          </a:p>
        </p:txBody>
      </p:sp>
      <p:sp>
        <p:nvSpPr>
          <p:cNvPr id="53" name="Text 41"/>
          <p:cNvSpPr/>
          <p:nvPr/>
        </p:nvSpPr>
        <p:spPr>
          <a:xfrm>
            <a:off x="10222992" y="486918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800" b="1" kern="0" spc="100" dirty="0">
                <a:solidFill>
                  <a:srgbClr val="4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20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Nieto</a:t>
            </a:r>
            <a:endParaRPr lang="en-US" sz="800" dirty="0"/>
          </a:p>
        </p:txBody>
      </p:sp>
      <p:pic>
        <p:nvPicPr>
          <p:cNvPr id="54" name="Image 10" descr="footer_b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pic>
        <p:nvPicPr>
          <p:cNvPr id="55" name="Image 11" descr="doe_seal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02920" y="6510528"/>
            <a:ext cx="2377440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4098</TotalTime>
  <Words>458</Words>
  <Application>Microsoft Macintosh PowerPoint</Application>
  <PresentationFormat>Widescreen</PresentationFormat>
  <Paragraphs>133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Bookman Old Style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Adler Archer</cp:lastModifiedBy>
  <cp:revision>18</cp:revision>
  <dcterms:created xsi:type="dcterms:W3CDTF">2026-07-17T11:04:47Z</dcterms:created>
  <dcterms:modified xsi:type="dcterms:W3CDTF">2026-07-22T15:34:14Z</dcterms:modified>
</cp:coreProperties>
</file>